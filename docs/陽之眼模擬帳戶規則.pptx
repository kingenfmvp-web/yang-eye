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總覽" id="{167dab45-7b6e-45f7-16c2-9675d7045713}">
          <p14:sldIdLst>
            <p14:sldId id="256"/>
            <p14:sldId id="257"/>
          </p14:sldIdLst>
        </p14:section>
        <p14:section name="選股規則" id="{27d1225c-d767-f613-7ebd-e460ddd9ad7d}">
          <p14:sldIdLst>
            <p14:sldId id="258"/>
            <p14:sldId id="259"/>
            <p14:sldId id="260"/>
          </p14:sldIdLst>
        </p14:section>
        <p14:section name="執行" id="{dd546a10-fa88-b6fd-76bb-151abb85d8c8}">
          <p14:sldIdLst>
            <p14:sldId id="261"/>
            <p14:sldId id="262"/>
          </p14:sldIdLst>
        </p14:section>
        <p14:section name="監控與依據" id="{87d3b8b5-b36f-7347-871e-00e997d53a4f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213D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14213D"/>
                </a:solidFill>
                <a:latin typeface="+mj-lt"/>
              </a:rPr>
              <a:t>年化報酬（2015–2026）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年化報酬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0050（含息）</c:v>
                  </c:pt>
                  <c:pt idx="1">
                    <c:v>核心衛星 v0.3</c:v>
                  </c:pt>
                  <c:pt idx="2">
                    <c:v>核心衛星 v0.8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20.9</c:v>
                </c:pt>
                <c:pt idx="1">
                  <c:v>22.7</c:v>
                </c:pt>
                <c:pt idx="2">
                  <c:v>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4213D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14213D"/>
                </a:solidFill>
                <a:latin typeface="+mj-lt"/>
              </a:rPr>
              <a:t>最大回撤（越短越好）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最大回撤</c:v>
                </c:pt>
              </c:strCache>
            </c:strRef>
          </c:tx>
          <c:spPr>
            <a:solidFill>
              <a:srgbClr val="8A94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5534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0050（含息）</c:v>
                  </c:pt>
                  <c:pt idx="1">
                    <c:v>核心衛星 v0.3</c:v>
                  </c:pt>
                  <c:pt idx="2">
                    <c:v>核心衛星 v0.8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46.3</c:v>
                </c:pt>
                <c:pt idx="2">
                  <c:v>43.9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說明目前模擬帳戶的完整規則：資金配置、選股池、選股條件、換股與成交、每日運作與監控，以及這套規則的回測依據。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核心衛星配置：0050 負責穩定，衛星負責超額報酬。初始資金 100 萬，2026-10-20 收盤建倉。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選股池是時點正確的：每次換股只用當時看得到的成交資料。v0.7 對照另外把上櫃前 140 名也加進來。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營收要等次月 10 日公告，所以 m 月營收只在 m+1 月 11 日之後使用。v0.8 的兩條新條件見 reports/v08_report.md。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漲停不追的規則來自 reports/limits_report.md：回測假設漲停也買得到，每年多算約 2.5 個百分點。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數據來自 reports/v08_report.md 的核心衛星表（含漲停延後與滑價）。最大回撤以正值呈現長度，實際為 -34.0%、-46.3%、-43.9%。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陽之眼計畫｜研究用模擬，不構成投資建議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陽之眼模擬帳戶：現行規則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2026-10-28 版｜11/11 換股起改用 v0.8 選股條件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一半放 0050，一半買營收加速成長的股票</a:t>
            </a:r>
            <a:endParaRPr lang="en-US" sz="3400" dirty="0"/>
          </a:p>
        </p:txBody>
      </p:sp>
      <p:sp>
        <p:nvSpPr>
          <p:cNvPr id="3" name="card_1"/>
          <p:cNvSpPr/>
          <p:nvPr/>
        </p:nvSpPr>
        <p:spPr>
          <a:xfrm>
            <a:off x="54864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4" name="t_2"/>
          <p:cNvSpPr txBox="1"/>
          <p:nvPr/>
        </p:nvSpPr>
        <p:spPr>
          <a:xfrm>
            <a:off x="914400" y="1828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50%</a:t>
            </a:r>
            <a:endParaRPr lang="en-US" sz="7200" dirty="0"/>
          </a:p>
        </p:txBody>
      </p:sp>
      <p:sp>
        <p:nvSpPr>
          <p:cNvPr id="5" name="t_3"/>
          <p:cNvSpPr txBox="1"/>
          <p:nvPr/>
        </p:nvSpPr>
        <p:spPr>
          <a:xfrm>
            <a:off x="91440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核心：0050</a:t>
            </a:r>
            <a:endParaRPr lang="en-US" sz="2400" dirty="0"/>
          </a:p>
        </p:txBody>
      </p:sp>
      <p:sp>
        <p:nvSpPr>
          <p:cNvPr id="6" name="t_4"/>
          <p:cNvSpPr txBox="1"/>
          <p:nvPr/>
        </p:nvSpPr>
        <p:spPr>
          <a:xfrm>
            <a:off x="914400" y="3840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跟著大盤走，降低整體波動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選股選不滿 10 檔時，空出來的位置也買 0050</a:t>
            </a:r>
            <a:endParaRPr lang="en-US" sz="1600" dirty="0"/>
          </a:p>
        </p:txBody>
      </p:sp>
      <p:sp>
        <p:nvSpPr>
          <p:cNvPr id="7" name="card_5"/>
          <p:cNvSpPr/>
          <p:nvPr/>
        </p:nvSpPr>
        <p:spPr>
          <a:xfrm>
            <a:off x="630936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8" name="t_6"/>
          <p:cNvSpPr txBox="1"/>
          <p:nvPr/>
        </p:nvSpPr>
        <p:spPr>
          <a:xfrm>
            <a:off x="6675120" y="18288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50%</a:t>
            </a:r>
            <a:endParaRPr lang="en-US" sz="7200" dirty="0"/>
          </a:p>
        </p:txBody>
      </p:sp>
      <p:sp>
        <p:nvSpPr>
          <p:cNvPr id="9" name="t_7"/>
          <p:cNvSpPr txBox="1"/>
          <p:nvPr/>
        </p:nvSpPr>
        <p:spPr>
          <a:xfrm>
            <a:off x="667512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衛星：營收動能選股</a:t>
            </a:r>
            <a:endParaRPr lang="en-US" sz="2400" dirty="0"/>
          </a:p>
        </p:txBody>
      </p:sp>
      <p:sp>
        <p:nvSpPr>
          <p:cNvPr id="10" name="t_8"/>
          <p:cNvSpPr txBox="1"/>
          <p:nvPr/>
        </p:nvSpPr>
        <p:spPr>
          <a:xfrm>
            <a:off x="6675120" y="3840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最多 10 檔，每檔約占帳戶 5%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每月換股一次，換股時把比例調回 50 / 50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第一步：先圈出夠大、夠活躍的 140 檔</a:t>
            </a:r>
            <a:endParaRPr lang="en-US" sz="3400" dirty="0"/>
          </a:p>
        </p:txBody>
      </p:sp>
      <p:sp>
        <p:nvSpPr>
          <p:cNvPr id="3" name="dot_9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dotlabel_10"/>
          <p:cNvSpPr txBox="1"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_11"/>
          <p:cNvSpPr txBox="1"/>
          <p:nvPr/>
        </p:nvSpPr>
        <p:spPr>
          <a:xfrm>
            <a:off x="1463040" y="1508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上市普通股</a:t>
            </a:r>
            <a:endParaRPr lang="en-US" sz="2000" dirty="0"/>
          </a:p>
        </p:txBody>
      </p:sp>
      <p:sp>
        <p:nvSpPr>
          <p:cNvPr id="6" name="t_12"/>
          <p:cNvSpPr txBox="1"/>
          <p:nvPr/>
        </p:nvSpPr>
        <p:spPr>
          <a:xfrm>
            <a:off x="1463040" y="1965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排除 ETF、特別股、存託憑證等</a:t>
            </a:r>
            <a:endParaRPr lang="en-US" sz="1500" dirty="0"/>
          </a:p>
        </p:txBody>
      </p:sp>
      <p:sp>
        <p:nvSpPr>
          <p:cNvPr id="7" name="dot_13"/>
          <p:cNvSpPr/>
          <p:nvPr/>
        </p:nvSpPr>
        <p:spPr>
          <a:xfrm>
            <a:off x="731520" y="2743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dotlabel_14"/>
          <p:cNvSpPr txBox="1"/>
          <p:nvPr/>
        </p:nvSpPr>
        <p:spPr>
          <a:xfrm>
            <a:off x="7315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_15"/>
          <p:cNvSpPr txBox="1"/>
          <p:nvPr/>
        </p:nvSpPr>
        <p:spPr>
          <a:xfrm>
            <a:off x="1463040" y="2651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近 20 日平均成交金額前 140 名</a:t>
            </a:r>
            <a:endParaRPr lang="en-US" sz="2000" dirty="0"/>
          </a:p>
        </p:txBody>
      </p:sp>
      <p:sp>
        <p:nvSpPr>
          <p:cNvPr id="10" name="t_16"/>
          <p:cNvSpPr txBox="1"/>
          <p:nvPr/>
        </p:nvSpPr>
        <p:spPr>
          <a:xfrm>
            <a:off x="1463040" y="3108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每次換股當天重新排名，只用換股前的資料</a:t>
            </a:r>
            <a:endParaRPr lang="en-US" sz="1500" dirty="0"/>
          </a:p>
        </p:txBody>
      </p:sp>
      <p:sp>
        <p:nvSpPr>
          <p:cNvPr id="11" name="dot_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dotlabel_18"/>
          <p:cNvSpPr txBox="1"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_19"/>
          <p:cNvSpPr txBox="1"/>
          <p:nvPr/>
        </p:nvSpPr>
        <p:spPr>
          <a:xfrm>
            <a:off x="1463040" y="3794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上市滿 6 個月</a:t>
            </a:r>
            <a:endParaRPr lang="en-US" sz="2000" dirty="0"/>
          </a:p>
        </p:txBody>
      </p:sp>
      <p:sp>
        <p:nvSpPr>
          <p:cNvPr id="14" name="t_20"/>
          <p:cNvSpPr txBox="1"/>
          <p:nvPr/>
        </p:nvSpPr>
        <p:spPr>
          <a:xfrm>
            <a:off x="1463040" y="4251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剛上市的股票資料太少，不列入</a:t>
            </a:r>
            <a:endParaRPr lang="en-US" sz="1500" dirty="0"/>
          </a:p>
        </p:txBody>
      </p:sp>
      <p:sp>
        <p:nvSpPr>
          <p:cNvPr id="15" name="dot_21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dotlabel_22"/>
          <p:cNvSpPr txBox="1"/>
          <p:nvPr/>
        </p:nvSpPr>
        <p:spPr>
          <a:xfrm>
            <a:off x="7315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_23"/>
          <p:cNvSpPr txBox="1"/>
          <p:nvPr/>
        </p:nvSpPr>
        <p:spPr>
          <a:xfrm>
            <a:off x="1463040" y="4937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近 20 日均量 &gt; 1,000 張</a:t>
            </a:r>
            <a:endParaRPr lang="en-US" sz="2000" dirty="0"/>
          </a:p>
        </p:txBody>
      </p:sp>
      <p:sp>
        <p:nvSpPr>
          <p:cNvPr id="18" name="t_24"/>
          <p:cNvSpPr txBox="1"/>
          <p:nvPr/>
        </p:nvSpPr>
        <p:spPr>
          <a:xfrm>
            <a:off x="1463040" y="53949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流動性不足的股票不買</a:t>
            </a:r>
            <a:endParaRPr lang="en-US" sz="1500" dirty="0"/>
          </a:p>
        </p:txBody>
      </p:sp>
      <p:sp>
        <p:nvSpPr>
          <p:cNvPr id="19" name="card_25"/>
          <p:cNvSpPr/>
          <p:nvPr/>
        </p:nvSpPr>
        <p:spPr>
          <a:xfrm>
            <a:off x="7680960" y="1508760"/>
            <a:ext cx="3931920" cy="443484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20" name="t_26"/>
          <p:cNvSpPr txBox="1"/>
          <p:nvPr/>
        </p:nvSpPr>
        <p:spPr>
          <a:xfrm>
            <a:off x="8046720" y="1920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140</a:t>
            </a:r>
            <a:endParaRPr lang="en-US" sz="7200" dirty="0"/>
          </a:p>
        </p:txBody>
      </p:sp>
      <p:sp>
        <p:nvSpPr>
          <p:cNvPr id="21" name="t_27"/>
          <p:cNvSpPr txBox="1"/>
          <p:nvPr/>
        </p:nvSpPr>
        <p:spPr>
          <a:xfrm>
            <a:off x="804672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檔候選股</a:t>
            </a:r>
            <a:endParaRPr lang="en-US" sz="2200" dirty="0"/>
          </a:p>
        </p:txBody>
      </p:sp>
      <p:sp>
        <p:nvSpPr>
          <p:cNvPr id="22" name="t_28"/>
          <p:cNvSpPr txBox="1"/>
          <p:nvPr/>
        </p:nvSpPr>
        <p:spPr>
          <a:xfrm>
            <a:off x="8046720" y="38404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回測時用「當時」的排名，包含後來下市的股票，避免只看到活下來的贏家。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第二步：營收要「又高、又快、還在加速」</a:t>
            </a:r>
            <a:endParaRPr lang="en-US" sz="3400" dirty="0"/>
          </a:p>
        </p:txBody>
      </p:sp>
      <p:sp>
        <p:nvSpPr>
          <p:cNvPr id="3" name="card_29"/>
          <p:cNvSpPr/>
          <p:nvPr/>
        </p:nvSpPr>
        <p:spPr>
          <a:xfrm>
            <a:off x="548640" y="146304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t_30"/>
          <p:cNvSpPr txBox="1"/>
          <p:nvPr/>
        </p:nvSpPr>
        <p:spPr>
          <a:xfrm>
            <a:off x="82296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近 3 月營收年增 &gt; 20%</a:t>
            </a:r>
            <a:endParaRPr lang="en-US" sz="1900" dirty="0"/>
          </a:p>
        </p:txBody>
      </p:sp>
      <p:sp>
        <p:nvSpPr>
          <p:cNvPr id="5" name="t_31"/>
          <p:cNvSpPr txBox="1"/>
          <p:nvPr/>
        </p:nvSpPr>
        <p:spPr>
          <a:xfrm>
            <a:off x="82296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成長要夠快</a:t>
            </a:r>
            <a:endParaRPr lang="en-US" sz="1500" dirty="0"/>
          </a:p>
        </p:txBody>
      </p:sp>
      <p:sp>
        <p:nvSpPr>
          <p:cNvPr id="6" name="card_32"/>
          <p:cNvSpPr/>
          <p:nvPr/>
        </p:nvSpPr>
        <p:spPr>
          <a:xfrm>
            <a:off x="548640" y="292608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7" name="t_33"/>
          <p:cNvSpPr txBox="1"/>
          <p:nvPr/>
        </p:nvSpPr>
        <p:spPr>
          <a:xfrm>
            <a:off x="82296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當月營收創 12 個月新高</a:t>
            </a:r>
            <a:endParaRPr lang="en-US" sz="1900" dirty="0"/>
          </a:p>
        </p:txBody>
      </p:sp>
      <p:sp>
        <p:nvSpPr>
          <p:cNvPr id="8" name="t_34"/>
          <p:cNvSpPr txBox="1"/>
          <p:nvPr/>
        </p:nvSpPr>
        <p:spPr>
          <a:xfrm>
            <a:off x="82296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成長還在延續</a:t>
            </a:r>
            <a:endParaRPr lang="en-US" sz="1500" dirty="0"/>
          </a:p>
        </p:txBody>
      </p:sp>
      <p:sp>
        <p:nvSpPr>
          <p:cNvPr id="9" name="card_35"/>
          <p:cNvSpPr/>
          <p:nvPr/>
        </p:nvSpPr>
        <p:spPr>
          <a:xfrm>
            <a:off x="548640" y="438912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0" name="t_36"/>
          <p:cNvSpPr txBox="1"/>
          <p:nvPr/>
        </p:nvSpPr>
        <p:spPr>
          <a:xfrm>
            <a:off x="82296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年增率比前 3 個月平均更高</a:t>
            </a:r>
            <a:endParaRPr lang="en-US" sz="1900" dirty="0"/>
          </a:p>
        </p:txBody>
      </p:sp>
      <p:sp>
        <p:nvSpPr>
          <p:cNvPr id="11" name="t_37"/>
          <p:cNvSpPr txBox="1"/>
          <p:nvPr/>
        </p:nvSpPr>
        <p:spPr>
          <a:xfrm>
            <a:off x="822960" y="5074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成長正在加速</a:t>
            </a:r>
            <a:endParaRPr lang="en-US" sz="1500" dirty="0"/>
          </a:p>
        </p:txBody>
      </p:sp>
      <p:sp>
        <p:nvSpPr>
          <p:cNvPr id="12" name="card_38"/>
          <p:cNvSpPr/>
          <p:nvPr/>
        </p:nvSpPr>
        <p:spPr>
          <a:xfrm>
            <a:off x="6309360" y="146304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3" name="t_39"/>
          <p:cNvSpPr txBox="1"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近 3 月營收合計 ≥ 3 億</a:t>
            </a:r>
            <a:endParaRPr lang="en-US" sz="1900" dirty="0"/>
          </a:p>
        </p:txBody>
      </p:sp>
      <p:sp>
        <p:nvSpPr>
          <p:cNvPr id="14" name="t_40"/>
          <p:cNvSpPr txBox="1"/>
          <p:nvPr/>
        </p:nvSpPr>
        <p:spPr>
          <a:xfrm>
            <a:off x="658368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去年同期也要 ≥ 1.5 億，排除基期太低</a:t>
            </a:r>
            <a:endParaRPr lang="en-US" sz="1500" dirty="0"/>
          </a:p>
        </p:txBody>
      </p:sp>
      <p:sp>
        <p:nvSpPr>
          <p:cNvPr id="15" name="card_41"/>
          <p:cNvSpPr/>
          <p:nvPr/>
        </p:nvSpPr>
        <p:spPr>
          <a:xfrm>
            <a:off x="6309360" y="292608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6" name="t_42"/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前一天收盤在 120 日均線之上</a:t>
            </a:r>
            <a:endParaRPr lang="en-US" sz="1900" dirty="0"/>
          </a:p>
        </p:txBody>
      </p:sp>
      <p:sp>
        <p:nvSpPr>
          <p:cNvPr id="17" name="t_43"/>
          <p:cNvSpPr txBox="1"/>
          <p:nvPr/>
        </p:nvSpPr>
        <p:spPr>
          <a:xfrm>
            <a:off x="6583680" y="3611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用股價確認：營收好但股價還在跌的不買</a:t>
            </a:r>
            <a:endParaRPr lang="en-US" sz="1500" dirty="0"/>
          </a:p>
        </p:txBody>
      </p:sp>
      <p:sp>
        <p:nvSpPr>
          <p:cNvPr id="18" name="t_44"/>
          <p:cNvSpPr txBox="1"/>
          <p:nvPr/>
        </p:nvSpPr>
        <p:spPr>
          <a:xfrm>
            <a:off x="6309360" y="5943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橘色＝v0.8 新增，11/11 換股起生效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第三步：排序、分散、補空位</a:t>
            </a:r>
            <a:endParaRPr lang="en-US" sz="3400" dirty="0"/>
          </a:p>
        </p:txBody>
      </p:sp>
      <p:sp>
        <p:nvSpPr>
          <p:cNvPr id="3" name="card_45"/>
          <p:cNvSpPr/>
          <p:nvPr/>
        </p:nvSpPr>
        <p:spPr>
          <a:xfrm>
            <a:off x="54864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dot_46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dotlabel_47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_48"/>
          <p:cNvSpPr txBox="1"/>
          <p:nvPr/>
        </p:nvSpPr>
        <p:spPr>
          <a:xfrm>
            <a:off x="82296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排序</a:t>
            </a:r>
            <a:endParaRPr lang="en-US" sz="2000" dirty="0"/>
          </a:p>
        </p:txBody>
      </p:sp>
      <p:sp>
        <p:nvSpPr>
          <p:cNvPr id="7" name="t_49"/>
          <p:cNvSpPr txBox="1"/>
          <p:nvPr/>
        </p:nvSpPr>
        <p:spPr>
          <a:xfrm>
            <a:off x="82296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通過條件的股票，依近 3 月營收年增率由高到低排</a:t>
            </a:r>
            <a:endParaRPr lang="en-US" sz="1500" dirty="0"/>
          </a:p>
        </p:txBody>
      </p:sp>
      <p:sp>
        <p:nvSpPr>
          <p:cNvPr id="8" name="arrow_50"/>
          <p:cNvSpPr/>
          <p:nvPr/>
        </p:nvSpPr>
        <p:spPr>
          <a:xfrm rot="5400000">
            <a:off x="3200400" y="2880360"/>
            <a:ext cx="137160" cy="274320"/>
          </a:xfrm>
          <a:prstGeom prst="rtTriangle">
            <a:avLst/>
          </a:prstGeom>
          <a:solidFill>
            <a:schemeClr val="accent5"/>
          </a:solidFill>
          <a:ln/>
        </p:spPr>
      </p:sp>
      <p:sp>
        <p:nvSpPr>
          <p:cNvPr id="9" name="card_51"/>
          <p:cNvSpPr/>
          <p:nvPr/>
        </p:nvSpPr>
        <p:spPr>
          <a:xfrm>
            <a:off x="338328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dot_52"/>
          <p:cNvSpPr/>
          <p:nvPr/>
        </p:nvSpPr>
        <p:spPr>
          <a:xfrm>
            <a:off x="365760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dotlabel_53"/>
          <p:cNvSpPr txBox="1"/>
          <p:nvPr/>
        </p:nvSpPr>
        <p:spPr>
          <a:xfrm>
            <a:off x="36576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_54"/>
          <p:cNvSpPr txBox="1"/>
          <p:nvPr/>
        </p:nvSpPr>
        <p:spPr>
          <a:xfrm>
            <a:off x="365760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取前 10 檔</a:t>
            </a:r>
            <a:endParaRPr lang="en-US" sz="2000" dirty="0"/>
          </a:p>
        </p:txBody>
      </p:sp>
      <p:sp>
        <p:nvSpPr>
          <p:cNvPr id="13" name="t_55"/>
          <p:cNvSpPr txBox="1"/>
          <p:nvPr/>
        </p:nvSpPr>
        <p:spPr>
          <a:xfrm>
            <a:off x="365760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每檔約占帳戶 5%（衛星的十分之一）</a:t>
            </a:r>
            <a:endParaRPr lang="en-US" sz="1500" dirty="0"/>
          </a:p>
        </p:txBody>
      </p:sp>
      <p:sp>
        <p:nvSpPr>
          <p:cNvPr id="14" name="arrow_56"/>
          <p:cNvSpPr/>
          <p:nvPr/>
        </p:nvSpPr>
        <p:spPr>
          <a:xfrm rot="5400000">
            <a:off x="6035040" y="2880360"/>
            <a:ext cx="137160" cy="274320"/>
          </a:xfrm>
          <a:prstGeom prst="rtTriangle">
            <a:avLst/>
          </a:prstGeom>
          <a:solidFill>
            <a:schemeClr val="accent5"/>
          </a:solidFill>
          <a:ln/>
        </p:spPr>
      </p:sp>
      <p:sp>
        <p:nvSpPr>
          <p:cNvPr id="15" name="card_57"/>
          <p:cNvSpPr/>
          <p:nvPr/>
        </p:nvSpPr>
        <p:spPr>
          <a:xfrm>
            <a:off x="621792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dot_58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dotlabel_59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_60"/>
          <p:cNvSpPr txBox="1"/>
          <p:nvPr/>
        </p:nvSpPr>
        <p:spPr>
          <a:xfrm>
            <a:off x="649224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同產業最多 3 檔</a:t>
            </a:r>
            <a:endParaRPr lang="en-US" sz="2000" dirty="0"/>
          </a:p>
        </p:txBody>
      </p:sp>
      <p:sp>
        <p:nvSpPr>
          <p:cNvPr id="19" name="t_61"/>
          <p:cNvSpPr txBox="1"/>
          <p:nvPr/>
        </p:nvSpPr>
        <p:spPr>
          <a:xfrm>
            <a:off x="649224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避免全部擠在同一個產業</a:t>
            </a:r>
            <a:endParaRPr lang="en-US" sz="1500" dirty="0"/>
          </a:p>
        </p:txBody>
      </p:sp>
      <p:sp>
        <p:nvSpPr>
          <p:cNvPr id="20" name="arrow_62"/>
          <p:cNvSpPr/>
          <p:nvPr/>
        </p:nvSpPr>
        <p:spPr>
          <a:xfrm rot="5400000">
            <a:off x="8869680" y="2880360"/>
            <a:ext cx="137160" cy="274320"/>
          </a:xfrm>
          <a:prstGeom prst="rtTriangle">
            <a:avLst/>
          </a:prstGeom>
          <a:solidFill>
            <a:schemeClr val="accent5"/>
          </a:solidFill>
          <a:ln/>
        </p:spPr>
      </p:sp>
      <p:sp>
        <p:nvSpPr>
          <p:cNvPr id="21" name="card_63"/>
          <p:cNvSpPr/>
          <p:nvPr/>
        </p:nvSpPr>
        <p:spPr>
          <a:xfrm>
            <a:off x="9052560" y="155448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dot_64"/>
          <p:cNvSpPr/>
          <p:nvPr/>
        </p:nvSpPr>
        <p:spPr>
          <a:xfrm>
            <a:off x="9326880" y="1828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dotlabel_65"/>
          <p:cNvSpPr txBox="1"/>
          <p:nvPr/>
        </p:nvSpPr>
        <p:spPr>
          <a:xfrm>
            <a:off x="93268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_66"/>
          <p:cNvSpPr txBox="1"/>
          <p:nvPr/>
        </p:nvSpPr>
        <p:spPr>
          <a:xfrm>
            <a:off x="932688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選不滿就補 0050</a:t>
            </a:r>
            <a:endParaRPr lang="en-US" sz="2000" dirty="0"/>
          </a:p>
        </p:txBody>
      </p:sp>
      <p:sp>
        <p:nvSpPr>
          <p:cNvPr id="25" name="t_67"/>
          <p:cNvSpPr txBox="1"/>
          <p:nvPr/>
        </p:nvSpPr>
        <p:spPr>
          <a:xfrm>
            <a:off x="932688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例如只選到 7 檔，剩下 3 格的錢買 0050</a:t>
            </a:r>
            <a:endParaRPr lang="en-US" sz="1500" dirty="0"/>
          </a:p>
        </p:txBody>
      </p:sp>
      <p:sp>
        <p:nvSpPr>
          <p:cNvPr id="26" name="card_68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7" name="t_69"/>
          <p:cNvSpPr txBox="1"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注意：「同產業」是交易所的產業分類。一週下來發現，10 檔裡有 7 檔其實都是 AI 供應鏈，產業上限擋不住這種主題集中，所以另外每天記錄 AI 占比（第 8 頁）。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換股時點與成交規則：只做真的做得到的單</a:t>
            </a:r>
            <a:endParaRPr lang="en-US" sz="3400" dirty="0"/>
          </a:p>
        </p:txBody>
      </p:sp>
      <p:sp>
        <p:nvSpPr>
          <p:cNvPr id="3" name="timeline_70"/>
          <p:cNvSpPr/>
          <p:nvPr/>
        </p:nvSpPr>
        <p:spPr>
          <a:xfrm>
            <a:off x="914400" y="2011680"/>
            <a:ext cx="10332720" cy="0"/>
          </a:xfrm>
          <a:prstGeom prst="line">
            <a:avLst/>
          </a:prstGeom>
          <a:noFill/>
          <a:ln w="25400">
            <a:solidFill>
              <a:srgbClr val="8A94A6"/>
            </a:solidFill>
            <a:prstDash val="solid"/>
          </a:ln>
        </p:spPr>
      </p:sp>
      <p:sp>
        <p:nvSpPr>
          <p:cNvPr id="4" name="dot_71"/>
          <p:cNvSpPr/>
          <p:nvPr/>
        </p:nvSpPr>
        <p:spPr>
          <a:xfrm>
            <a:off x="731520" y="17556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dotlabel_72"/>
          <p:cNvSpPr txBox="1"/>
          <p:nvPr/>
        </p:nvSpPr>
        <p:spPr>
          <a:xfrm>
            <a:off x="73152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_73"/>
          <p:cNvSpPr txBox="1"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每月 10 日</a:t>
            </a:r>
            <a:endParaRPr lang="en-US" sz="1900" dirty="0"/>
          </a:p>
        </p:txBody>
      </p:sp>
      <p:sp>
        <p:nvSpPr>
          <p:cNvPr id="7" name="t_74"/>
          <p:cNvSpPr txBox="1"/>
          <p:nvPr/>
        </p:nvSpPr>
        <p:spPr>
          <a:xfrm>
            <a:off x="548640" y="30175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上市公司公告上月營收的期限</a:t>
            </a:r>
            <a:endParaRPr lang="en-US" sz="1500" dirty="0"/>
          </a:p>
        </p:txBody>
      </p:sp>
      <p:sp>
        <p:nvSpPr>
          <p:cNvPr id="8" name="dot_75"/>
          <p:cNvSpPr/>
          <p:nvPr/>
        </p:nvSpPr>
        <p:spPr>
          <a:xfrm>
            <a:off x="3566160" y="175564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dotlabel_76"/>
          <p:cNvSpPr txBox="1"/>
          <p:nvPr/>
        </p:nvSpPr>
        <p:spPr>
          <a:xfrm>
            <a:off x="356616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_77"/>
          <p:cNvSpPr txBox="1"/>
          <p:nvPr/>
        </p:nvSpPr>
        <p:spPr>
          <a:xfrm>
            <a:off x="33832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11 日起第一個交易日</a:t>
            </a:r>
            <a:endParaRPr lang="en-US" sz="1900" dirty="0"/>
          </a:p>
        </p:txBody>
      </p:sp>
      <p:sp>
        <p:nvSpPr>
          <p:cNvPr id="11" name="t_78"/>
          <p:cNvSpPr txBox="1"/>
          <p:nvPr/>
        </p:nvSpPr>
        <p:spPr>
          <a:xfrm>
            <a:off x="3383280" y="30175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用剛公告的營收選股，當天收盤價換股</a:t>
            </a:r>
            <a:endParaRPr lang="en-US" sz="1500" dirty="0"/>
          </a:p>
        </p:txBody>
      </p:sp>
      <p:sp>
        <p:nvSpPr>
          <p:cNvPr id="12" name="dot_79"/>
          <p:cNvSpPr/>
          <p:nvPr/>
        </p:nvSpPr>
        <p:spPr>
          <a:xfrm>
            <a:off x="6400800" y="175564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dotlabel_80"/>
          <p:cNvSpPr txBox="1"/>
          <p:nvPr/>
        </p:nvSpPr>
        <p:spPr>
          <a:xfrm>
            <a:off x="640080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_81"/>
          <p:cNvSpPr txBox="1"/>
          <p:nvPr/>
        </p:nvSpPr>
        <p:spPr>
          <a:xfrm>
            <a:off x="621792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新股收漲停</a:t>
            </a:r>
            <a:endParaRPr lang="en-US" sz="1900" dirty="0"/>
          </a:p>
        </p:txBody>
      </p:sp>
      <p:sp>
        <p:nvSpPr>
          <p:cNvPr id="15" name="t_82"/>
          <p:cNvSpPr txBox="1"/>
          <p:nvPr/>
        </p:nvSpPr>
        <p:spPr>
          <a:xfrm>
            <a:off x="6217920" y="30175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不追，那一格現金保留，之後第一個沒漲停的交易日再買</a:t>
            </a:r>
            <a:endParaRPr lang="en-US" sz="1500" dirty="0"/>
          </a:p>
        </p:txBody>
      </p:sp>
      <p:sp>
        <p:nvSpPr>
          <p:cNvPr id="16" name="dot_83"/>
          <p:cNvSpPr/>
          <p:nvPr/>
        </p:nvSpPr>
        <p:spPr>
          <a:xfrm>
            <a:off x="9235440" y="175564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dotlabel_84"/>
          <p:cNvSpPr txBox="1"/>
          <p:nvPr/>
        </p:nvSpPr>
        <p:spPr>
          <a:xfrm>
            <a:off x="9235440" y="1755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_85"/>
          <p:cNvSpPr txBox="1"/>
          <p:nvPr/>
        </p:nvSpPr>
        <p:spPr>
          <a:xfrm>
            <a:off x="905256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要賣的股收跌停</a:t>
            </a:r>
            <a:endParaRPr lang="en-US" sz="1900" dirty="0"/>
          </a:p>
        </p:txBody>
      </p:sp>
      <p:sp>
        <p:nvSpPr>
          <p:cNvPr id="19" name="t_86"/>
          <p:cNvSpPr txBox="1"/>
          <p:nvPr/>
        </p:nvSpPr>
        <p:spPr>
          <a:xfrm>
            <a:off x="9052560" y="301752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延到之後第一個沒跌停的交易日再賣</a:t>
            </a:r>
            <a:endParaRPr lang="en-US" sz="1500" dirty="0"/>
          </a:p>
        </p:txBody>
      </p:sp>
      <p:sp>
        <p:nvSpPr>
          <p:cNvPr id="20" name="card_87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21" name="t_88"/>
          <p:cNvSpPr txBox="1"/>
          <p:nvPr/>
        </p:nvSpPr>
        <p:spPr>
          <a:xfrm>
            <a:off x="822960" y="4754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交易成本：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手續費 0.1425%（每筆最低 20 元），賣出另收證交稅 0.3%；股數取整數，可買零股。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除權息：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股利自動再投入（調整持股股數），分割與面額變更也會調整。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每天自動跑：兩個排程、一個儀表板</a:t>
            </a:r>
            <a:endParaRPr lang="en-US" sz="3400" dirty="0"/>
          </a:p>
        </p:txBody>
      </p:sp>
      <p:sp>
        <p:nvSpPr>
          <p:cNvPr id="3" name="card_89"/>
          <p:cNvSpPr/>
          <p:nvPr/>
        </p:nvSpPr>
        <p:spPr>
          <a:xfrm>
            <a:off x="548640" y="146304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t_90"/>
          <p:cNvSpPr txBox="1"/>
          <p:nvPr/>
        </p:nvSpPr>
        <p:spPr>
          <a:xfrm>
            <a:off x="822960" y="16916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08:10</a:t>
            </a:r>
            <a:endParaRPr lang="en-US" sz="4400" dirty="0"/>
          </a:p>
        </p:txBody>
      </p:sp>
      <p:sp>
        <p:nvSpPr>
          <p:cNvPr id="5" name="t_91"/>
          <p:cNvSpPr txBox="1"/>
          <p:nvPr/>
        </p:nvSpPr>
        <p:spPr>
          <a:xfrm>
            <a:off x="82296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週一～五</a:t>
            </a:r>
            <a:endParaRPr lang="en-US" sz="1400" dirty="0"/>
          </a:p>
        </p:txBody>
      </p:sp>
      <p:sp>
        <p:nvSpPr>
          <p:cNvPr id="6" name="t_92"/>
          <p:cNvSpPr txBox="1"/>
          <p:nvPr/>
        </p:nvSpPr>
        <p:spPr>
          <a:xfrm>
            <a:off x="3474720" y="1691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盤前參考</a:t>
            </a:r>
            <a:endParaRPr lang="en-US" sz="2100" dirty="0"/>
          </a:p>
        </p:txBody>
      </p:sp>
      <p:sp>
        <p:nvSpPr>
          <p:cNvPr id="7" name="t_93"/>
          <p:cNvSpPr txBox="1"/>
          <p:nvPr/>
        </p:nvSpPr>
        <p:spPr>
          <a:xfrm>
            <a:off x="3474720" y="21945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前一晚費半、那斯達克、台積電 ADR，以及 0050 預估開盤跳空。只是參考，不影響換股</a:t>
            </a:r>
            <a:endParaRPr lang="en-US" sz="1500" dirty="0"/>
          </a:p>
        </p:txBody>
      </p:sp>
      <p:sp>
        <p:nvSpPr>
          <p:cNvPr id="8" name="card_94"/>
          <p:cNvSpPr/>
          <p:nvPr/>
        </p:nvSpPr>
        <p:spPr>
          <a:xfrm>
            <a:off x="548640" y="3429000"/>
            <a:ext cx="110642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9" name="t_95"/>
          <p:cNvSpPr txBox="1"/>
          <p:nvPr/>
        </p:nvSpPr>
        <p:spPr>
          <a:xfrm>
            <a:off x="822960" y="3657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10:10</a:t>
            </a:r>
            <a:endParaRPr lang="en-US" sz="4400" dirty="0"/>
          </a:p>
        </p:txBody>
      </p:sp>
      <p:sp>
        <p:nvSpPr>
          <p:cNvPr id="10" name="t_96"/>
          <p:cNvSpPr txBox="1"/>
          <p:nvPr/>
        </p:nvSpPr>
        <p:spPr>
          <a:xfrm>
            <a:off x="822960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週一～六</a:t>
            </a:r>
            <a:endParaRPr lang="en-US" sz="1400" dirty="0"/>
          </a:p>
        </p:txBody>
      </p:sp>
      <p:sp>
        <p:nvSpPr>
          <p:cNvPr id="11" name="t_97"/>
          <p:cNvSpPr txBox="1"/>
          <p:nvPr/>
        </p:nvSpPr>
        <p:spPr>
          <a:xfrm>
            <a:off x="347472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帳本更新</a:t>
            </a:r>
            <a:endParaRPr lang="en-US" sz="2100" dirty="0"/>
          </a:p>
        </p:txBody>
      </p:sp>
      <p:sp>
        <p:nvSpPr>
          <p:cNvPr id="12" name="t_98"/>
          <p:cNvSpPr txBox="1"/>
          <p:nvPr/>
        </p:nvSpPr>
        <p:spPr>
          <a:xfrm>
            <a:off x="3474720" y="41605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證交所收盤資料隔天早上才發布，所以記錄前一個交易日。沒有新資料就略過，只更新「最後檢查」</a:t>
            </a:r>
            <a:endParaRPr lang="en-US" sz="1500" dirty="0"/>
          </a:p>
        </p:txBody>
      </p:sp>
      <p:sp>
        <p:nvSpPr>
          <p:cNvPr id="13" name="t_99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資料來源：證交所與櫃買中心 OpenAPI（每日行情）、FinMind（營收、除權息、加權報酬指數，用自己的 token）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同時記錄四條線，加上 AI 集中度</a:t>
            </a:r>
            <a:endParaRPr lang="en-US" sz="3400" dirty="0"/>
          </a:p>
        </p:txBody>
      </p:sp>
      <p:sp>
        <p:nvSpPr>
          <p:cNvPr id="3" name="card_100"/>
          <p:cNvSpPr/>
          <p:nvPr/>
        </p:nvSpPr>
        <p:spPr>
          <a:xfrm>
            <a:off x="548640" y="146304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legend_101"/>
          <p:cNvSpPr/>
          <p:nvPr/>
        </p:nvSpPr>
        <p:spPr>
          <a:xfrm>
            <a:off x="822960" y="175564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_102"/>
          <p:cNvSpPr txBox="1"/>
          <p:nvPr/>
        </p:nvSpPr>
        <p:spPr>
          <a:xfrm>
            <a:off x="123444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模擬帳戶</a:t>
            </a:r>
            <a:endParaRPr lang="en-US" sz="1900" dirty="0"/>
          </a:p>
        </p:txBody>
      </p:sp>
      <p:sp>
        <p:nvSpPr>
          <p:cNvPr id="6" name="t_103"/>
          <p:cNvSpPr txBox="1"/>
          <p:nvPr/>
        </p:nvSpPr>
        <p:spPr>
          <a:xfrm>
            <a:off x="822960" y="2240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正式跑的這一組</a:t>
            </a:r>
            <a:endParaRPr lang="en-US" sz="1400" dirty="0"/>
          </a:p>
        </p:txBody>
      </p:sp>
      <p:sp>
        <p:nvSpPr>
          <p:cNvPr id="7" name="card_104"/>
          <p:cNvSpPr/>
          <p:nvPr/>
        </p:nvSpPr>
        <p:spPr>
          <a:xfrm>
            <a:off x="4160520" y="146304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legend_105"/>
          <p:cNvSpPr/>
          <p:nvPr/>
        </p:nvSpPr>
        <p:spPr>
          <a:xfrm>
            <a:off x="4434840" y="1755648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_106"/>
          <p:cNvSpPr txBox="1"/>
          <p:nvPr/>
        </p:nvSpPr>
        <p:spPr>
          <a:xfrm>
            <a:off x="484632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加權報酬指數</a:t>
            </a:r>
            <a:endParaRPr lang="en-US" sz="1900" dirty="0"/>
          </a:p>
        </p:txBody>
      </p:sp>
      <p:sp>
        <p:nvSpPr>
          <p:cNvPr id="10" name="t_107"/>
          <p:cNvSpPr txBox="1"/>
          <p:nvPr/>
        </p:nvSpPr>
        <p:spPr>
          <a:xfrm>
            <a:off x="4434840" y="22402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大盤（含息），判斷有沒有贏大盤</a:t>
            </a:r>
            <a:endParaRPr lang="en-US" sz="1400" dirty="0"/>
          </a:p>
        </p:txBody>
      </p:sp>
      <p:sp>
        <p:nvSpPr>
          <p:cNvPr id="11" name="card_108"/>
          <p:cNvSpPr/>
          <p:nvPr/>
        </p:nvSpPr>
        <p:spPr>
          <a:xfrm>
            <a:off x="548640" y="329184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legend_109"/>
          <p:cNvSpPr/>
          <p:nvPr/>
        </p:nvSpPr>
        <p:spPr>
          <a:xfrm>
            <a:off x="822960" y="3584448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_110"/>
          <p:cNvSpPr txBox="1"/>
          <p:nvPr/>
        </p:nvSpPr>
        <p:spPr>
          <a:xfrm>
            <a:off x="123444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選股池等權重</a:t>
            </a:r>
            <a:endParaRPr lang="en-US" sz="1900" dirty="0"/>
          </a:p>
        </p:txBody>
      </p:sp>
      <p:sp>
        <p:nvSpPr>
          <p:cNvPr id="14" name="t_111"/>
          <p:cNvSpPr txBox="1"/>
          <p:nvPr/>
        </p:nvSpPr>
        <p:spPr>
          <a:xfrm>
            <a:off x="822960" y="4069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140 檔各買一樣多，判斷選股有沒有用</a:t>
            </a:r>
            <a:endParaRPr lang="en-US" sz="1400" dirty="0"/>
          </a:p>
        </p:txBody>
      </p:sp>
      <p:sp>
        <p:nvSpPr>
          <p:cNvPr id="15" name="card_112"/>
          <p:cNvSpPr/>
          <p:nvPr/>
        </p:nvSpPr>
        <p:spPr>
          <a:xfrm>
            <a:off x="4160520" y="3291840"/>
            <a:ext cx="34290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legend_113"/>
          <p:cNvSpPr/>
          <p:nvPr/>
        </p:nvSpPr>
        <p:spPr>
          <a:xfrm>
            <a:off x="4434840" y="3584448"/>
            <a:ext cx="274320" cy="2743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7" name="t_114"/>
          <p:cNvSpPr txBox="1"/>
          <p:nvPr/>
        </p:nvSpPr>
        <p:spPr>
          <a:xfrm>
            <a:off x="48463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v0.7 對照</a:t>
            </a:r>
            <a:endParaRPr lang="en-US" sz="1900" dirty="0"/>
          </a:p>
        </p:txBody>
      </p:sp>
      <p:sp>
        <p:nvSpPr>
          <p:cNvPr id="18" name="t_115"/>
          <p:cNvSpPr txBox="1"/>
          <p:nvPr/>
        </p:nvSpPr>
        <p:spPr>
          <a:xfrm>
            <a:off x="4434840" y="4069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選股池加入上櫃前 140 名，只記錄不換</a:t>
            </a:r>
            <a:endParaRPr lang="en-US" sz="1400" dirty="0"/>
          </a:p>
        </p:txBody>
      </p:sp>
      <p:sp>
        <p:nvSpPr>
          <p:cNvPr id="19" name="card_116"/>
          <p:cNvSpPr/>
          <p:nvPr/>
        </p:nvSpPr>
        <p:spPr>
          <a:xfrm>
            <a:off x="7863840" y="1463040"/>
            <a:ext cx="374904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20" name="t_117"/>
          <p:cNvSpPr txBox="1"/>
          <p:nvPr/>
        </p:nvSpPr>
        <p:spPr>
          <a:xfrm>
            <a:off x="8138160" y="17373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</a:rPr>
              <a:t>35%</a:t>
            </a:r>
            <a:endParaRPr lang="en-US" sz="6400" dirty="0"/>
          </a:p>
        </p:txBody>
      </p:sp>
      <p:sp>
        <p:nvSpPr>
          <p:cNvPr id="21" name="t_118"/>
          <p:cNvSpPr txBox="1"/>
          <p:nvPr/>
        </p:nvSpPr>
        <p:spPr>
          <a:xfrm>
            <a:off x="81381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AI 供應鏈占淨值</a:t>
            </a:r>
            <a:endParaRPr lang="en-US" sz="1900" dirty="0"/>
          </a:p>
        </p:txBody>
      </p:sp>
      <p:sp>
        <p:nvSpPr>
          <p:cNvPr id="22" name="t_119"/>
          <p:cNvSpPr txBox="1"/>
          <p:nvPr/>
        </p:nvSpPr>
        <p:spPr>
          <a:xfrm>
            <a:off x="8138160" y="338328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衛星 10 檔中 7 檔屬 AI 供應鏈，0050 另約半數是台積電。只記錄、不影響選股。</a:t>
            </a:r>
            <a:endParaRPr lang="en-US" sz="1400" dirty="0"/>
          </a:p>
        </p:txBody>
      </p:sp>
      <p:sp>
        <p:nvSpPr>
          <p:cNvPr id="23" name="t_120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AI 子產業分群取自 ToAlpha 產業輪動頁，每月換股前更新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為什麼用這套規則：回測多賺一點，但跌得也更深</a:t>
            </a:r>
            <a:endParaRPr lang="en-US" sz="3400" dirty="0"/>
          </a:p>
        </p:txBody>
      </p:sp>
      <p:graphicFrame>
        <p:nvGraphicFramePr>
          <p:cNvPr id="3" name="chart_cagr" descr=""/>
          <p:cNvGraphicFramePr/>
          <p:nvPr/>
        </p:nvGraphicFramePr>
        <p:xfrm>
          <a:off x="548640" y="13716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_dd" descr=""/>
          <p:cNvGraphicFramePr/>
          <p:nvPr/>
        </p:nvGraphicFramePr>
        <p:xfrm>
          <a:off x="6126480" y="13716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_121"/>
          <p:cNvSpPr txBox="1"/>
          <p:nvPr/>
        </p:nvSpPr>
        <p:spPr>
          <a:xfrm>
            <a:off x="548640" y="5486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已扣手續費、證交稅、每邊 0.1% 滑價，並套用漲停延後買。Sharpe：0050 1.09、v0.8 1.10，幾乎打平。累計已測約 20 個版本，數字要保守看待。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現況與下一步</a:t>
            </a:r>
            <a:endParaRPr lang="en-US" sz="4400" dirty="0"/>
          </a:p>
        </p:txBody>
      </p:sp>
      <p:sp>
        <p:nvSpPr>
          <p:cNvPr id="3" name="t_122"/>
          <p:cNvSpPr txBox="1"/>
          <p:nvPr/>
        </p:nvSpPr>
        <p:spPr>
          <a:xfrm>
            <a:off x="731520" y="347472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10/27 收盤：模擬帳戶 -2.1%、大盤 -0.4%（才 3 個交易日，屬正常波動）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11/10 演練第一次 v0.8 換股；11/11 正式換股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至少累積 6～12 個月紀錄再評估，不因短期輸贏改規則</a:t>
            </a:r>
            <a:endParaRPr lang="en-US" sz="2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474720"/>
            <a:ext cx="10698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ang Eye">
  <a:themeElements>
    <a:clrScheme name="Yang Eye">
      <a:dk1>
        <a:srgbClr val="1F2430"/>
      </a:dk1>
      <a:lt1>
        <a:srgbClr val="FFFFFF"/>
      </a:lt1>
      <a:dk2>
        <a:srgbClr val="14213D"/>
      </a:dk2>
      <a:lt2>
        <a:srgbClr val="F1F3F7"/>
      </a:lt2>
      <a:accent1>
        <a:srgbClr val="F2A541"/>
      </a:accent1>
      <a:accent2>
        <a:srgbClr val="2A78D6"/>
      </a:accent2>
      <a:accent3>
        <a:srgbClr val="1BAF7A"/>
      </a:accent3>
      <a:accent4>
        <a:srgbClr val="E5534B"/>
      </a:accent4>
      <a:accent5>
        <a:srgbClr val="8A94A6"/>
      </a:accent5>
      <a:accent6>
        <a:srgbClr val="6C5CE7"/>
      </a:accent6>
      <a:hlink>
        <a:srgbClr val="2A78D6"/>
      </a:hlink>
      <a:folHlink>
        <a:srgbClr val="6C5CE7"/>
      </a:folHlink>
    </a:clrScheme>
    <a:fontScheme name="Yang Ey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陽之眼模擬帳戶現行規則</dc:title>
  <dc:subject>PptxGenJS Presentation</dc:subject>
  <dc:creator>陽之眼計畫</dc:creator>
  <cp:lastModifiedBy>陽之眼計畫</cp:lastModifiedBy>
  <cp:revision>1</cp:revision>
  <dcterms:created xsi:type="dcterms:W3CDTF">2026-10-28T05:22:06Z</dcterms:created>
  <dcterms:modified xsi:type="dcterms:W3CDTF">2026-10-28T05:22:06Z</dcterms:modified>
</cp:coreProperties>
</file>